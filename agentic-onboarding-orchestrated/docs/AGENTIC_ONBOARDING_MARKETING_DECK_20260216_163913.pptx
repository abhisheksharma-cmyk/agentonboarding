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C1E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56032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rial"/>
              </a:defRPr>
            </a:pPr>
            <a:r>
              <a:t>Verinite Agentic Onboarding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9491701" cy="1384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1264A"/>
                </a:solidFill>
                <a:latin typeface="Arial"/>
              </a:defRPr>
            </a:pPr>
            <a:r>
              <a:rPr dirty="0"/>
              <a:t>Accelerating compliant customer onboarding through </a:t>
            </a:r>
            <a:endParaRPr lang="en-US" dirty="0" smtClean="0"/>
          </a:p>
          <a:p>
            <a:pPr>
              <a:defRPr sz="2800" b="1">
                <a:solidFill>
                  <a:srgbClr val="11264A"/>
                </a:solidFill>
                <a:latin typeface="Arial"/>
              </a:defRPr>
            </a:pPr>
            <a:r>
              <a:rPr dirty="0" smtClean="0"/>
              <a:t>policy-governed </a:t>
            </a:r>
            <a:r>
              <a:rPr dirty="0"/>
              <a:t>Agentic AI.</a:t>
            </a:r>
          </a:p>
          <a:p>
            <a:pPr>
              <a:spcBef>
                <a:spcPts val="1200"/>
              </a:spcBef>
              <a:defRPr sz="1800">
                <a:solidFill>
                  <a:srgbClr val="334155"/>
                </a:solidFill>
                <a:latin typeface="Arial"/>
              </a:defRPr>
            </a:pPr>
            <a:r>
              <a:rPr dirty="0"/>
              <a:t>For enterprise banks, NBFCs, </a:t>
            </a:r>
            <a:r>
              <a:rPr dirty="0" err="1"/>
              <a:t>fintechs</a:t>
            </a:r>
            <a:r>
              <a:rPr dirty="0"/>
              <a:t>, and regulated digital businesses.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Confidential | Verinite | Generated 2026-02-16 16:39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Client-focused transformation narrative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0"/>
              </a:spcBef>
              <a:defRPr sz="2000">
                <a:solidFill>
                  <a:srgbClr val="1E293B"/>
                </a:solidFill>
                <a:latin typeface="Arial"/>
              </a:defRPr>
            </a:pPr>
            <a:r>
              <a:rPr dirty="0" smtClean="0"/>
              <a:t>01</a:t>
            </a:r>
            <a:r>
              <a:rPr dirty="0"/>
              <a:t>. Why onboarding transformation is urgent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rPr dirty="0"/>
              <a:t>02. Current challenges in customer onboarding operations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rPr dirty="0"/>
              <a:t>03. Agentic Onboarding solution overview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rPr dirty="0"/>
              <a:t>04. Business impact and value realization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rPr dirty="0"/>
              <a:t>05. Architecture, control, and governance model</a:t>
            </a:r>
          </a:p>
          <a:p>
            <a:pPr>
              <a:spcBef>
                <a:spcPts val="800"/>
              </a:spcBef>
              <a:defRPr sz="1800">
                <a:solidFill>
                  <a:srgbClr val="1E293B"/>
                </a:solidFill>
                <a:latin typeface="Arial"/>
              </a:defRPr>
            </a:pPr>
            <a:r>
              <a:rPr dirty="0"/>
              <a:t>06. Implementation roadmap with </a:t>
            </a:r>
            <a:r>
              <a:rPr dirty="0" err="1"/>
              <a:t>Verinite</a:t>
            </a:r>
            <a:r>
              <a:rPr dirty="0"/>
              <a:t>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Understanding the Current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Operational pain points in traditional onboarding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57784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  <a:latin typeface="Arial"/>
              </a:defRPr>
            </a:pPr>
            <a:r>
              <a:t>Challenge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Manual and repetitive verification activities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Delayed turnaround for known onboarding scenarios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Scattered operational knowledge across teams and channels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High dependence on specialist intervention for basic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55080" y="1234440"/>
            <a:ext cx="5257800" cy="5257800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A"/>
                </a:solidFill>
                <a:latin typeface="Arial"/>
              </a:defRPr>
            </a:pPr>
            <a:r>
              <a:t>Business Impact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Higher onboarding cost per application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Inconsistent processing quality and customer experience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Compliance risk due to non-standardized execution</a:t>
            </a:r>
          </a:p>
          <a:p>
            <a:pPr>
              <a:spcBef>
                <a:spcPts val="700"/>
              </a:spcBef>
              <a:defRPr sz="1500">
                <a:solidFill>
                  <a:srgbClr val="334155"/>
                </a:solidFill>
                <a:latin typeface="Arial"/>
              </a:defRPr>
            </a:pPr>
            <a:r>
              <a:t>Reduced growth velocity because of slower onboarding throughput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Challenge Landscape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Reimagining Onboarding with Agentic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A policy-governed, event-driven decision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4155"/>
                </a:solidFill>
                <a:latin typeface="Arial"/>
              </a:defRPr>
            </a:pPr>
            <a:r>
              <a:t>Agentic Onboarding combines specialized AI agents, deterministic workflow control, and centralized policy governance to deliver faster, safer, and more explainable customer onboarding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1. Frontend Data and Document Intake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53712" y="18288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2. Orchestrator + Trace-Aware State Machine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8421624" y="18288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3. KYC and Address Verification Agents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6576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4. AML and Credit Decision 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53712" y="36576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5. Risk Synthesis + Decision Gateway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21624" y="3657600"/>
            <a:ext cx="3611880" cy="150876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D4ED8"/>
                </a:solidFill>
                <a:latin typeface="Arial"/>
              </a:defRPr>
            </a:pPr>
            <a:r>
              <a:t>6. Full Audit Trail and Explainable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Solution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Business Value and Outcome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Indicative targets based on automated onboarding operating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1264A"/>
                </a:solidFill>
                <a:latin typeface="Arial"/>
              </a:defRPr>
            </a:pPr>
            <a:r>
              <a:t>30-50%</a:t>
            </a:r>
          </a:p>
          <a:p>
            <a:pPr algn="ctr"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Faster application decision turnaround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11879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1264A"/>
                </a:solidFill>
                <a:latin typeface="Arial"/>
              </a:defRPr>
            </a:pPr>
            <a:r>
              <a:t>40-60%</a:t>
            </a:r>
          </a:p>
          <a:p>
            <a:pPr algn="ctr"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Reduction in repetitive manual processing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1264A"/>
                </a:solidFill>
                <a:latin typeface="Arial"/>
              </a:defRPr>
            </a:pPr>
            <a:r>
              <a:t>100%</a:t>
            </a:r>
          </a:p>
          <a:p>
            <a:pPr algn="ctr"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Traceable audit chain for every decision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9189719" y="1828800"/>
            <a:ext cx="2514600" cy="329184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11264A"/>
                </a:solidFill>
                <a:latin typeface="Arial"/>
              </a:defRPr>
            </a:pPr>
            <a:r>
              <a:t>High</a:t>
            </a:r>
          </a:p>
          <a:p>
            <a:pPr algn="ctr">
              <a:spcBef>
                <a:spcPts val="1000"/>
              </a:spcBef>
              <a:defRPr sz="1300">
                <a:solidFill>
                  <a:srgbClr val="334155"/>
                </a:solidFill>
                <a:latin typeface="Arial"/>
              </a:defRPr>
            </a:pPr>
            <a:r>
              <a:t>Regulatory confidence with policy-governed controls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035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Note: Metrics are indicative and refined during discovery and pilot baselining.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Business Outcomes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Event-driven orchestration with centralized decision governance</a:t>
            </a:r>
          </a:p>
        </p:txBody>
      </p:sp>
      <p:pic>
        <p:nvPicPr>
          <p:cNvPr id="5" name="Picture 4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024128"/>
            <a:ext cx="8229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Architecture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Workflow and Decision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Deterministic stage transitions with policy guardrails</a:t>
            </a:r>
          </a:p>
        </p:txBody>
      </p:sp>
      <p:pic>
        <p:nvPicPr>
          <p:cNvPr id="5" name="Picture 4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334" y="1024128"/>
            <a:ext cx="9303026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Workflow and Decisioning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Configuration and Pluggability Control Surface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YAML-driven slot versioning and runtime operational controls</a:t>
            </a:r>
          </a:p>
        </p:txBody>
      </p:sp>
      <p:pic>
        <p:nvPicPr>
          <p:cNvPr id="5" name="Picture 4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047" y="1024128"/>
            <a:ext cx="8229600" cy="5349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YAML Pluggability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Engagement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"/>
            <a:ext cx="9144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1D5DB"/>
                </a:solidFill>
                <a:latin typeface="Arial"/>
              </a:defRPr>
            </a:pPr>
            <a:r>
              <a:t>A phased approach for rapid value realization with controlled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146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Phase 1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Discover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Process assessment, compliance baseline, integration mapping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828800"/>
            <a:ext cx="25146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Phase 2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Pilot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Limited-scope rollout with trace, policy, and outcome validation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25146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Phase 3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Scale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Progressive expansion across segments and products</a:t>
            </a:r>
          </a:p>
        </p:txBody>
      </p:sp>
      <p:sp>
        <p:nvSpPr>
          <p:cNvPr id="8" name="Rectangle 7"/>
          <p:cNvSpPr/>
          <p:nvPr/>
        </p:nvSpPr>
        <p:spPr>
          <a:xfrm>
            <a:off x="9235440" y="1828800"/>
            <a:ext cx="2514600" cy="3383280"/>
          </a:xfrm>
          <a:prstGeom prst="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D4ED8"/>
                </a:solidFill>
                <a:latin typeface="Arial"/>
              </a:defRPr>
            </a:pPr>
            <a:r>
              <a:t>Phase 4</a:t>
            </a:r>
          </a:p>
          <a:p>
            <a:pPr>
              <a:spcBef>
                <a:spcPts val="300"/>
              </a:spcBef>
              <a:defRPr sz="2000" b="1">
                <a:solidFill>
                  <a:srgbClr val="0F172A"/>
                </a:solidFill>
                <a:latin typeface="Arial"/>
              </a:defRPr>
            </a:pPr>
            <a:r>
              <a:t>Optimize</a:t>
            </a:r>
          </a:p>
          <a:p>
            <a:pPr>
              <a:spcBef>
                <a:spcPts val="800"/>
              </a:spcBef>
              <a:defRPr sz="1200">
                <a:solidFill>
                  <a:srgbClr val="334155"/>
                </a:solidFill>
                <a:latin typeface="Arial"/>
              </a:defRPr>
            </a:pPr>
            <a:r>
              <a:t>Continuous tuning, model-policy refinement, KPI 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65392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Arial"/>
              </a:defRPr>
            </a:pPr>
            <a:r>
              <a:t>Verinite Agentic Onboarding | Engagement Roadmap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  <a:p>
            <a:pPr algn="ctr">
              <a:spcBef>
                <a:spcPts val="1600"/>
              </a:spcBef>
              <a:defRPr sz="2000">
                <a:solidFill>
                  <a:srgbClr val="BFDBFE"/>
                </a:solidFill>
                <a:latin typeface="Arial"/>
              </a:defRPr>
            </a:pPr>
            <a:r>
              <a:t>Let us co-design your next-generation onboarding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D1D5DB"/>
                </a:solidFill>
                <a:latin typeface="Arial"/>
              </a:defRPr>
            </a:pPr>
            <a:r>
              <a:t>Verinite | IT Services and Digital Transformation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431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Abhishek Sharma</cp:lastModifiedBy>
  <cp:revision>2</cp:revision>
  <dcterms:created xsi:type="dcterms:W3CDTF">2013-01-27T09:14:16Z</dcterms:created>
  <dcterms:modified xsi:type="dcterms:W3CDTF">2026-02-16T11:11:04Z</dcterms:modified>
  <cp:category/>
</cp:coreProperties>
</file>